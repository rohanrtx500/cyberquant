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han Mandal" userId="bebad03393a10956" providerId="LiveId" clId="{B4BBEC73-6F90-4773-BBD6-BDAF916354A5}"/>
    <pc:docChg chg="custSel modSld">
      <pc:chgData name="Rohan Mandal" userId="bebad03393a10956" providerId="LiveId" clId="{B4BBEC73-6F90-4773-BBD6-BDAF916354A5}" dt="2026-08-31T08:36:41.804" v="156" actId="255"/>
      <pc:docMkLst>
        <pc:docMk/>
      </pc:docMkLst>
      <pc:sldChg chg="modSp mod">
        <pc:chgData name="Rohan Mandal" userId="bebad03393a10956" providerId="LiveId" clId="{B4BBEC73-6F90-4773-BBD6-BDAF916354A5}" dt="2026-08-31T08:36:41.804" v="156" actId="255"/>
        <pc:sldMkLst>
          <pc:docMk/>
          <pc:sldMk cId="0" sldId="281"/>
        </pc:sldMkLst>
        <pc:spChg chg="mod">
          <ac:chgData name="Rohan Mandal" userId="bebad03393a10956" providerId="LiveId" clId="{B4BBEC73-6F90-4773-BBD6-BDAF916354A5}" dt="2026-08-31T08:36:41.804" v="156" actId="255"/>
          <ac:spMkLst>
            <pc:docMk/>
            <pc:sldMk cId="0" sldId="281"/>
            <ac:spMk id="15362" creationId="{00000000-0000-0000-0000-000000000000}"/>
          </ac:spMkLst>
        </pc:spChg>
      </pc:sldChg>
      <pc:sldChg chg="addSp delSp modSp mod">
        <pc:chgData name="Rohan Mandal" userId="bebad03393a10956" providerId="LiveId" clId="{B4BBEC73-6F90-4773-BBD6-BDAF916354A5}" dt="2026-08-31T08:27:01.002" v="45" actId="14100"/>
        <pc:sldMkLst>
          <pc:docMk/>
          <pc:sldMk cId="0" sldId="290"/>
        </pc:sldMkLst>
        <pc:spChg chg="del mod">
          <ac:chgData name="Rohan Mandal" userId="bebad03393a10956" providerId="LiveId" clId="{B4BBEC73-6F90-4773-BBD6-BDAF916354A5}" dt="2026-08-31T08:26:39.349" v="41" actId="478"/>
          <ac:spMkLst>
            <pc:docMk/>
            <pc:sldMk cId="0" sldId="290"/>
            <ac:spMk id="17418" creationId="{00000000-0000-0000-0000-000000000000}"/>
          </ac:spMkLst>
        </pc:spChg>
        <pc:spChg chg="del mod">
          <ac:chgData name="Rohan Mandal" userId="bebad03393a10956" providerId="LiveId" clId="{B4BBEC73-6F90-4773-BBD6-BDAF916354A5}" dt="2026-08-31T08:18:02.115" v="19" actId="478"/>
          <ac:spMkLst>
            <pc:docMk/>
            <pc:sldMk cId="0" sldId="290"/>
            <ac:spMk id="17419" creationId="{00000000-0000-0000-0000-000000000000}"/>
          </ac:spMkLst>
        </pc:spChg>
        <pc:picChg chg="add del mod">
          <ac:chgData name="Rohan Mandal" userId="bebad03393a10956" providerId="LiveId" clId="{B4BBEC73-6F90-4773-BBD6-BDAF916354A5}" dt="2026-08-31T08:19:02.499" v="22" actId="478"/>
          <ac:picMkLst>
            <pc:docMk/>
            <pc:sldMk cId="0" sldId="290"/>
            <ac:picMk id="3" creationId="{D0A18EDD-BBE2-1E86-8654-CC6C72064640}"/>
          </ac:picMkLst>
        </pc:picChg>
        <pc:picChg chg="add del mod">
          <ac:chgData name="Rohan Mandal" userId="bebad03393a10956" providerId="LiveId" clId="{B4BBEC73-6F90-4773-BBD6-BDAF916354A5}" dt="2026-08-31T08:19:21.898" v="24" actId="478"/>
          <ac:picMkLst>
            <pc:docMk/>
            <pc:sldMk cId="0" sldId="290"/>
            <ac:picMk id="5" creationId="{E184D97F-4BA1-B4A0-120E-082685EB3B00}"/>
          </ac:picMkLst>
        </pc:picChg>
        <pc:picChg chg="add del mod">
          <ac:chgData name="Rohan Mandal" userId="bebad03393a10956" providerId="LiveId" clId="{B4BBEC73-6F90-4773-BBD6-BDAF916354A5}" dt="2026-08-31T08:26:05.115" v="35" actId="478"/>
          <ac:picMkLst>
            <pc:docMk/>
            <pc:sldMk cId="0" sldId="290"/>
            <ac:picMk id="10" creationId="{CC1E1B55-8A8B-7807-1FDE-D84EC22E633E}"/>
          </ac:picMkLst>
        </pc:picChg>
        <pc:picChg chg="add mod">
          <ac:chgData name="Rohan Mandal" userId="bebad03393a10956" providerId="LiveId" clId="{B4BBEC73-6F90-4773-BBD6-BDAF916354A5}" dt="2026-08-31T08:27:01.002" v="45" actId="14100"/>
          <ac:picMkLst>
            <pc:docMk/>
            <pc:sldMk cId="0" sldId="290"/>
            <ac:picMk id="13" creationId="{CF01ADC5-4F24-5EB4-DB80-271FC87A5FD7}"/>
          </ac:picMkLst>
        </pc:picChg>
      </pc:sldChg>
      <pc:sldChg chg="addSp delSp modSp mod">
        <pc:chgData name="Rohan Mandal" userId="bebad03393a10956" providerId="LiveId" clId="{B4BBEC73-6F90-4773-BBD6-BDAF916354A5}" dt="2026-08-31T08:22:59.493" v="30" actId="14100"/>
        <pc:sldMkLst>
          <pc:docMk/>
          <pc:sldMk cId="3753387913" sldId="293"/>
        </pc:sldMkLst>
        <pc:spChg chg="mod">
          <ac:chgData name="Rohan Mandal" userId="bebad03393a10956" providerId="LiveId" clId="{B4BBEC73-6F90-4773-BBD6-BDAF916354A5}" dt="2026-08-31T08:12:26.423" v="6" actId="1076"/>
          <ac:spMkLst>
            <pc:docMk/>
            <pc:sldMk cId="3753387913" sldId="293"/>
            <ac:spMk id="17413" creationId="{00000000-0000-0000-0000-000000000000}"/>
          </ac:spMkLst>
        </pc:spChg>
        <pc:spChg chg="del">
          <ac:chgData name="Rohan Mandal" userId="bebad03393a10956" providerId="LiveId" clId="{B4BBEC73-6F90-4773-BBD6-BDAF916354A5}" dt="2026-08-31T08:12:58.724" v="13" actId="478"/>
          <ac:spMkLst>
            <pc:docMk/>
            <pc:sldMk cId="3753387913" sldId="293"/>
            <ac:spMk id="17414" creationId="{00000000-0000-0000-0000-000000000000}"/>
          </ac:spMkLst>
        </pc:spChg>
        <pc:picChg chg="add mod">
          <ac:chgData name="Rohan Mandal" userId="bebad03393a10956" providerId="LiveId" clId="{B4BBEC73-6F90-4773-BBD6-BDAF916354A5}" dt="2026-08-31T08:22:59.493" v="30" actId="14100"/>
          <ac:picMkLst>
            <pc:docMk/>
            <pc:sldMk cId="3753387913" sldId="293"/>
            <ac:picMk id="3" creationId="{2413C340-29F1-FC98-D1F1-1D74C75BBEB4}"/>
          </ac:picMkLst>
        </pc:picChg>
      </pc:sldChg>
      <pc:sldChg chg="addSp delSp modSp mod">
        <pc:chgData name="Rohan Mandal" userId="bebad03393a10956" providerId="LiveId" clId="{B4BBEC73-6F90-4773-BBD6-BDAF916354A5}" dt="2026-08-31T08:36:26.474" v="155" actId="1076"/>
        <pc:sldMkLst>
          <pc:docMk/>
          <pc:sldMk cId="2997144140" sldId="294"/>
        </pc:sldMkLst>
        <pc:spChg chg="mod">
          <ac:chgData name="Rohan Mandal" userId="bebad03393a10956" providerId="LiveId" clId="{B4BBEC73-6F90-4773-BBD6-BDAF916354A5}" dt="2026-08-31T08:34:44.247" v="137" actId="14100"/>
          <ac:spMkLst>
            <pc:docMk/>
            <pc:sldMk cId="2997144140" sldId="294"/>
            <ac:spMk id="17411" creationId="{00000000-0000-0000-0000-000000000000}"/>
          </ac:spMkLst>
        </pc:spChg>
        <pc:spChg chg="mod">
          <ac:chgData name="Rohan Mandal" userId="bebad03393a10956" providerId="LiveId" clId="{B4BBEC73-6F90-4773-BBD6-BDAF916354A5}" dt="2026-08-31T08:35:00.638" v="139" actId="255"/>
          <ac:spMkLst>
            <pc:docMk/>
            <pc:sldMk cId="2997144140" sldId="294"/>
            <ac:spMk id="17412" creationId="{00000000-0000-0000-0000-000000000000}"/>
          </ac:spMkLst>
        </pc:spChg>
        <pc:spChg chg="mod">
          <ac:chgData name="Rohan Mandal" userId="bebad03393a10956" providerId="LiveId" clId="{B4BBEC73-6F90-4773-BBD6-BDAF916354A5}" dt="2026-08-31T08:35:28.483" v="143" actId="14100"/>
          <ac:spMkLst>
            <pc:docMk/>
            <pc:sldMk cId="2997144140" sldId="294"/>
            <ac:spMk id="17413" creationId="{00000000-0000-0000-0000-000000000000}"/>
          </ac:spMkLst>
        </pc:spChg>
        <pc:spChg chg="mod">
          <ac:chgData name="Rohan Mandal" userId="bebad03393a10956" providerId="LiveId" clId="{B4BBEC73-6F90-4773-BBD6-BDAF916354A5}" dt="2026-08-31T08:35:33.818" v="145" actId="14100"/>
          <ac:spMkLst>
            <pc:docMk/>
            <pc:sldMk cId="2997144140" sldId="294"/>
            <ac:spMk id="17414" creationId="{00000000-0000-0000-0000-000000000000}"/>
          </ac:spMkLst>
        </pc:spChg>
        <pc:spChg chg="mod">
          <ac:chgData name="Rohan Mandal" userId="bebad03393a10956" providerId="LiveId" clId="{B4BBEC73-6F90-4773-BBD6-BDAF916354A5}" dt="2026-08-31T08:35:59.587" v="151" actId="1076"/>
          <ac:spMkLst>
            <pc:docMk/>
            <pc:sldMk cId="2997144140" sldId="294"/>
            <ac:spMk id="17415" creationId="{00000000-0000-0000-0000-000000000000}"/>
          </ac:spMkLst>
        </pc:spChg>
        <pc:spChg chg="mod">
          <ac:chgData name="Rohan Mandal" userId="bebad03393a10956" providerId="LiveId" clId="{B4BBEC73-6F90-4773-BBD6-BDAF916354A5}" dt="2026-08-31T08:36:05.204" v="152" actId="255"/>
          <ac:spMkLst>
            <pc:docMk/>
            <pc:sldMk cId="2997144140" sldId="294"/>
            <ac:spMk id="17416" creationId="{00000000-0000-0000-0000-000000000000}"/>
          </ac:spMkLst>
        </pc:spChg>
        <pc:spChg chg="mod">
          <ac:chgData name="Rohan Mandal" userId="bebad03393a10956" providerId="LiveId" clId="{B4BBEC73-6F90-4773-BBD6-BDAF916354A5}" dt="2026-08-31T08:36:09.805" v="153" actId="255"/>
          <ac:spMkLst>
            <pc:docMk/>
            <pc:sldMk cId="2997144140" sldId="294"/>
            <ac:spMk id="17417" creationId="{00000000-0000-0000-0000-000000000000}"/>
          </ac:spMkLst>
        </pc:spChg>
        <pc:spChg chg="mod">
          <ac:chgData name="Rohan Mandal" userId="bebad03393a10956" providerId="LiveId" clId="{B4BBEC73-6F90-4773-BBD6-BDAF916354A5}" dt="2026-08-31T08:36:14.560" v="154" actId="255"/>
          <ac:spMkLst>
            <pc:docMk/>
            <pc:sldMk cId="2997144140" sldId="294"/>
            <ac:spMk id="17418" creationId="{00000000-0000-0000-0000-000000000000}"/>
          </ac:spMkLst>
        </pc:spChg>
        <pc:spChg chg="mod">
          <ac:chgData name="Rohan Mandal" userId="bebad03393a10956" providerId="LiveId" clId="{B4BBEC73-6F90-4773-BBD6-BDAF916354A5}" dt="2026-08-31T08:32:22.791" v="108" actId="255"/>
          <ac:spMkLst>
            <pc:docMk/>
            <pc:sldMk cId="2997144140" sldId="294"/>
            <ac:spMk id="17419" creationId="{00000000-0000-0000-0000-000000000000}"/>
          </ac:spMkLst>
        </pc:spChg>
        <pc:spChg chg="del mod">
          <ac:chgData name="Rohan Mandal" userId="bebad03393a10956" providerId="LiveId" clId="{B4BBEC73-6F90-4773-BBD6-BDAF916354A5}" dt="2026-08-31T08:22:28.870" v="25" actId="478"/>
          <ac:spMkLst>
            <pc:docMk/>
            <pc:sldMk cId="2997144140" sldId="294"/>
            <ac:spMk id="17420" creationId="{00000000-0000-0000-0000-000000000000}"/>
          </ac:spMkLst>
        </pc:spChg>
        <pc:spChg chg="del mod">
          <ac:chgData name="Rohan Mandal" userId="bebad03393a10956" providerId="LiveId" clId="{B4BBEC73-6F90-4773-BBD6-BDAF916354A5}" dt="2026-08-31T08:31:32.068" v="56" actId="478"/>
          <ac:spMkLst>
            <pc:docMk/>
            <pc:sldMk cId="2997144140" sldId="294"/>
            <ac:spMk id="17421" creationId="{00000000-0000-0000-0000-000000000000}"/>
          </ac:spMkLst>
        </pc:spChg>
        <pc:picChg chg="add mod">
          <ac:chgData name="Rohan Mandal" userId="bebad03393a10956" providerId="LiveId" clId="{B4BBEC73-6F90-4773-BBD6-BDAF916354A5}" dt="2026-08-31T08:36:26.474" v="155" actId="1076"/>
          <ac:picMkLst>
            <pc:docMk/>
            <pc:sldMk cId="2997144140" sldId="294"/>
            <ac:picMk id="3" creationId="{5711A857-B3E1-FF69-301E-6828F49CA3C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783080"/>
            <a:ext cx="5924550" cy="4709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0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  <a:r>
              <a:rPr sz="1500" b="0">
                <a:latin typeface="Arial"/>
              </a:rPr>
              <a:t>  SIH26105</a:t>
            </a:r>
          </a:p>
          <a:p>
            <a:pPr marL="285750" indent="-285750" algn="just">
              <a:lnSpc>
                <a:spcPct val="10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  <a:r>
              <a:rPr sz="1500" b="0">
                <a:latin typeface="Arial"/>
              </a:rPr>
              <a:t>  AI-Powered Continuous Cyber Risk Quantification and Investment Optimization Platform</a:t>
            </a:r>
          </a:p>
          <a:p>
            <a:pPr marL="285750" indent="-285750" algn="just">
              <a:lnSpc>
                <a:spcPct val="10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  <a:r>
              <a:rPr sz="1500" b="0">
                <a:latin typeface="Arial"/>
              </a:rPr>
              <a:t>  Blockchain &amp; Cybersecurity</a:t>
            </a:r>
          </a:p>
          <a:p>
            <a:pPr marL="285750" indent="-285750" algn="just">
              <a:lnSpc>
                <a:spcPct val="10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PS Category-</a:t>
            </a:r>
            <a:r>
              <a:rPr sz="1500" b="0">
                <a:latin typeface="Arial"/>
              </a:rPr>
              <a:t>  Software</a:t>
            </a:r>
          </a:p>
          <a:p>
            <a:pPr marL="285750" indent="-285750" algn="just">
              <a:lnSpc>
                <a:spcPct val="10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  <a:r>
              <a:rPr sz="1500" b="0">
                <a:latin typeface="Arial"/>
              </a:rPr>
              <a:t>  [YOUR TEAM ID]</a:t>
            </a:r>
          </a:p>
          <a:p>
            <a:pPr marL="285750" indent="-285750" algn="just">
              <a:lnSpc>
                <a:spcPct val="10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r>
              <a:rPr sz="1500" b="0">
                <a:latin typeface="Arial"/>
              </a:rPr>
              <a:t>  [YOUR TEAM NAME]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36D63E-53D4-F8C1-0368-8D73300109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CyberQuant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sp>
        <p:nvSpPr>
          <p:cNvPr id="15362" name="TextBox 15361"/>
          <p:cNvSpPr txBox="1"/>
          <p:nvPr/>
        </p:nvSpPr>
        <p:spPr>
          <a:xfrm>
            <a:off x="457200" y="1170432"/>
            <a:ext cx="11277295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 dirty="0">
                <a:solidFill>
                  <a:srgbClr val="1F3864"/>
                </a:solidFill>
                <a:latin typeface="Calibri"/>
              </a:rPr>
              <a:t>PROPOSED SOLUTION</a:t>
            </a:r>
          </a:p>
        </p:txBody>
      </p:sp>
      <p:sp>
        <p:nvSpPr>
          <p:cNvPr id="15363" name="Rounded Rectangle 15362"/>
          <p:cNvSpPr/>
          <p:nvPr/>
        </p:nvSpPr>
        <p:spPr>
          <a:xfrm>
            <a:off x="457200" y="1536829"/>
            <a:ext cx="5486400" cy="1947672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54864" rtlCol="0" anchor="t"/>
          <a:lstStyle/>
          <a:p>
            <a:pPr algn="l">
              <a:spcAft>
                <a:spcPts val="300"/>
              </a:spcAft>
            </a:pPr>
            <a:r>
              <a:rPr sz="1500" b="1" dirty="0">
                <a:solidFill>
                  <a:srgbClr val="1F3864"/>
                </a:solidFill>
                <a:latin typeface="Calibri"/>
              </a:rPr>
              <a:t>CONTINUOUS RISK INTELLIGENCE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dirty="0">
                <a:solidFill>
                  <a:srgbClr val="333333"/>
                </a:solidFill>
                <a:latin typeface="Calibri"/>
              </a:rPr>
              <a:t>•  Pulls in data non-stop from tools like SIEM, EDR, IAM and vulnerability scanners</a:t>
            </a:r>
            <a:r>
              <a:rPr lang="en-IN" sz="1300" dirty="0">
                <a:solidFill>
                  <a:srgbClr val="333333"/>
                </a:solidFill>
                <a:latin typeface="Calibri"/>
              </a:rPr>
              <a:t>.</a:t>
            </a:r>
            <a:endParaRPr sz="1300" dirty="0">
              <a:solidFill>
                <a:srgbClr val="333333"/>
              </a:solidFill>
              <a:latin typeface="Calibri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dirty="0">
                <a:solidFill>
                  <a:srgbClr val="333333"/>
                </a:solidFill>
                <a:latin typeface="Calibri"/>
              </a:rPr>
              <a:t>•  Links that data to how important each business asset is, so risk stays realistic</a:t>
            </a:r>
            <a:r>
              <a:rPr lang="en-IN" sz="1300" dirty="0">
                <a:solidFill>
                  <a:srgbClr val="333333"/>
                </a:solidFill>
                <a:latin typeface="Calibri"/>
              </a:rPr>
              <a:t>.</a:t>
            </a:r>
            <a:endParaRPr sz="1300" dirty="0">
              <a:solidFill>
                <a:srgbClr val="333333"/>
              </a:solidFill>
              <a:latin typeface="Calibri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dirty="0">
                <a:solidFill>
                  <a:srgbClr val="333333"/>
                </a:solidFill>
                <a:latin typeface="Calibri"/>
              </a:rPr>
              <a:t>•  Updates itself automatically, so the risk picture is never out of date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6248095" y="1609982"/>
            <a:ext cx="5486400" cy="1874519"/>
          </a:xfrm>
          <a:prstGeom prst="roundRect">
            <a:avLst>
              <a:gd name="adj" fmla="val 6000"/>
            </a:avLst>
          </a:prstGeom>
          <a:solidFill>
            <a:srgbClr val="E2EFDA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54864" rtlCol="0" anchor="t"/>
          <a:lstStyle/>
          <a:p>
            <a:pPr algn="l">
              <a:spcAft>
                <a:spcPts val="300"/>
              </a:spcAft>
            </a:pPr>
            <a:r>
              <a:rPr sz="1500" b="1" dirty="0">
                <a:solidFill>
                  <a:srgbClr val="1F3864"/>
                </a:solidFill>
                <a:latin typeface="Calibri"/>
              </a:rPr>
              <a:t>FINANCIAL RISK QUANTIFICATION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dirty="0">
                <a:solidFill>
                  <a:srgbClr val="333333"/>
                </a:solidFill>
                <a:latin typeface="Calibri"/>
              </a:rPr>
              <a:t>•  Turns technical issues into simple rupee/dollar numbers anyone can understand</a:t>
            </a:r>
            <a:r>
              <a:rPr lang="en-IN" sz="1300" dirty="0">
                <a:solidFill>
                  <a:srgbClr val="333333"/>
                </a:solidFill>
                <a:latin typeface="Calibri"/>
              </a:rPr>
              <a:t>.</a:t>
            </a:r>
            <a:endParaRPr sz="1300" dirty="0">
              <a:solidFill>
                <a:srgbClr val="333333"/>
              </a:solidFill>
              <a:latin typeface="Calibri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dirty="0">
                <a:solidFill>
                  <a:srgbClr val="333333"/>
                </a:solidFill>
                <a:latin typeface="Calibri"/>
              </a:rPr>
              <a:t>•  Calculates Expected Annual Loss (EAL) and Value at Risk (VaR) for any asset or the whole company</a:t>
            </a:r>
            <a:r>
              <a:rPr lang="en-IN" sz="1300" dirty="0">
                <a:solidFill>
                  <a:srgbClr val="333333"/>
                </a:solidFill>
                <a:latin typeface="Calibri"/>
              </a:rPr>
              <a:t>.</a:t>
            </a:r>
            <a:endParaRPr sz="1300" dirty="0">
              <a:solidFill>
                <a:srgbClr val="333333"/>
              </a:solidFill>
              <a:latin typeface="Calibri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dirty="0">
                <a:solidFill>
                  <a:srgbClr val="333333"/>
                </a:solidFill>
                <a:latin typeface="Calibri"/>
              </a:rPr>
              <a:t>•  Estimates likely loss ranges, factoring in downtime, breach costs and penalties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457200" y="3690242"/>
            <a:ext cx="5486400" cy="1874519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54864" rtlCol="0" anchor="t"/>
          <a:lstStyle/>
          <a:p>
            <a:pPr algn="l">
              <a:spcAft>
                <a:spcPts val="300"/>
              </a:spcAft>
            </a:pPr>
            <a:r>
              <a:rPr sz="1500" b="1" dirty="0">
                <a:solidFill>
                  <a:srgbClr val="1F3864"/>
                </a:solidFill>
                <a:latin typeface="Calibri"/>
              </a:rPr>
              <a:t>AI DECISION SUPPORT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dirty="0">
                <a:solidFill>
                  <a:srgbClr val="333333"/>
                </a:solidFill>
                <a:latin typeface="Calibri"/>
              </a:rPr>
              <a:t>•  Uses AI to find out which issues are costing the business the most money</a:t>
            </a:r>
            <a:r>
              <a:rPr lang="en-IN" sz="1300" dirty="0">
                <a:solidFill>
                  <a:srgbClr val="333333"/>
                </a:solidFill>
                <a:latin typeface="Calibri"/>
              </a:rPr>
              <a:t>.</a:t>
            </a:r>
            <a:endParaRPr sz="1300" dirty="0">
              <a:solidFill>
                <a:srgbClr val="333333"/>
              </a:solidFill>
              <a:latin typeface="Calibri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dirty="0">
                <a:solidFill>
                  <a:srgbClr val="333333"/>
                </a:solidFill>
                <a:latin typeface="Calibri"/>
              </a:rPr>
              <a:t>•  Suggests clear next steps — like patching, restricting access or adding monitoring</a:t>
            </a:r>
            <a:r>
              <a:rPr lang="en-IN" sz="1300" dirty="0">
                <a:solidFill>
                  <a:srgbClr val="333333"/>
                </a:solidFill>
                <a:latin typeface="Calibri"/>
              </a:rPr>
              <a:t>.</a:t>
            </a:r>
            <a:endParaRPr sz="1300" dirty="0">
              <a:solidFill>
                <a:srgbClr val="333333"/>
              </a:solidFill>
              <a:latin typeface="Calibri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dirty="0">
                <a:solidFill>
                  <a:srgbClr val="333333"/>
                </a:solidFill>
                <a:latin typeface="Calibri"/>
              </a:rPr>
              <a:t>•  Lets anyone simply ask 'What's our biggest cyber risk today?' and get a straight answer</a:t>
            </a:r>
            <a:r>
              <a:rPr lang="en-IN" sz="1300" dirty="0">
                <a:solidFill>
                  <a:srgbClr val="333333"/>
                </a:solidFill>
                <a:latin typeface="Calibri"/>
              </a:rPr>
              <a:t>.</a:t>
            </a:r>
            <a:endParaRPr sz="130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15366" name="Rounded Rectangle 15365"/>
          <p:cNvSpPr/>
          <p:nvPr/>
        </p:nvSpPr>
        <p:spPr>
          <a:xfrm>
            <a:off x="6248095" y="3694690"/>
            <a:ext cx="5486400" cy="1874519"/>
          </a:xfrm>
          <a:prstGeom prst="roundRect">
            <a:avLst>
              <a:gd name="adj" fmla="val 6000"/>
            </a:avLst>
          </a:prstGeom>
          <a:solidFill>
            <a:srgbClr val="F1F1F1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54864" rtlCol="0" anchor="t"/>
          <a:lstStyle/>
          <a:p>
            <a:pPr algn="l">
              <a:spcAft>
                <a:spcPts val="300"/>
              </a:spcAft>
            </a:pPr>
            <a:r>
              <a:rPr sz="1500" b="1" dirty="0">
                <a:solidFill>
                  <a:srgbClr val="1F3864"/>
                </a:solidFill>
                <a:latin typeface="Calibri"/>
              </a:rPr>
              <a:t>BUDGET OPTIMIZATION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dirty="0">
                <a:solidFill>
                  <a:srgbClr val="333333"/>
                </a:solidFill>
                <a:latin typeface="Calibri"/>
              </a:rPr>
              <a:t>•  Works out the best mix of security fixes for whatever budget is available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dirty="0">
                <a:solidFill>
                  <a:srgbClr val="333333"/>
                </a:solidFill>
                <a:latin typeface="Calibri"/>
              </a:rPr>
              <a:t>•  Calculates ROI (ROSI) so leaders can justify every rupee spent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dirty="0">
                <a:solidFill>
                  <a:srgbClr val="333333"/>
                </a:solidFill>
                <a:latin typeface="Calibri"/>
              </a:rPr>
              <a:t>•  Shows a simple spend-vs-risk-reduction chart, so it's easy to see where more spending stops helping</a:t>
            </a:r>
            <a:r>
              <a:rPr lang="en-IN" sz="1300" dirty="0">
                <a:solidFill>
                  <a:srgbClr val="333333"/>
                </a:solidFill>
                <a:latin typeface="Calibri"/>
              </a:rPr>
              <a:t>.</a:t>
            </a:r>
            <a:endParaRPr sz="1300" dirty="0">
              <a:solidFill>
                <a:srgbClr val="333333"/>
              </a:solidFill>
              <a:latin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CCA240-C3DC-83A7-1BED-2601CFA68C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152" y="94379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sp>
        <p:nvSpPr>
          <p:cNvPr id="17410" name="TextBox 17409"/>
          <p:cNvSpPr txBox="1"/>
          <p:nvPr/>
        </p:nvSpPr>
        <p:spPr>
          <a:xfrm>
            <a:off x="457200" y="1207008"/>
            <a:ext cx="39776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1F3864"/>
                </a:solidFill>
                <a:latin typeface="Calibri"/>
              </a:rPr>
              <a:t>TECHNOLOGY STACK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57200" y="1591056"/>
            <a:ext cx="3977639" cy="530352"/>
          </a:xfrm>
          <a:prstGeom prst="roundRect">
            <a:avLst>
              <a:gd name="adj" fmla="val 12000"/>
            </a:avLst>
          </a:prstGeom>
          <a:solidFill>
            <a:srgbClr val="F1F1F1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18288" rtlCol="0" anchor="ctr"/>
          <a:lstStyle/>
          <a:p>
            <a:pPr algn="l"/>
            <a:r>
              <a:rPr sz="1050" b="1">
                <a:solidFill>
                  <a:srgbClr val="1F3864"/>
                </a:solidFill>
                <a:latin typeface="Calibri"/>
              </a:rPr>
              <a:t>Frontend:  </a:t>
            </a:r>
            <a:r>
              <a:rPr sz="950">
                <a:solidFill>
                  <a:srgbClr val="333333"/>
                </a:solidFill>
                <a:latin typeface="Calibri"/>
              </a:rPr>
              <a:t>Next.js / React, TypeScript, Tailwind CSS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457200" y="2185416"/>
            <a:ext cx="3977639" cy="530352"/>
          </a:xfrm>
          <a:prstGeom prst="roundRect">
            <a:avLst>
              <a:gd name="adj" fmla="val 12000"/>
            </a:avLst>
          </a:prstGeom>
          <a:solidFill>
            <a:srgbClr val="F1F1F1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18288" rtlCol="0" anchor="ctr"/>
          <a:lstStyle/>
          <a:p>
            <a:pPr algn="l"/>
            <a:r>
              <a:rPr sz="1050" b="1">
                <a:solidFill>
                  <a:srgbClr val="1F3864"/>
                </a:solidFill>
                <a:latin typeface="Calibri"/>
              </a:rPr>
              <a:t>Backend:  </a:t>
            </a:r>
            <a:r>
              <a:rPr sz="950">
                <a:solidFill>
                  <a:srgbClr val="333333"/>
                </a:solidFill>
                <a:latin typeface="Calibri"/>
              </a:rPr>
              <a:t>Python, FastAPI, PostgreSQL, Redis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457200" y="2779776"/>
            <a:ext cx="3977639" cy="530352"/>
          </a:xfrm>
          <a:prstGeom prst="roundRect">
            <a:avLst>
              <a:gd name="adj" fmla="val 12000"/>
            </a:avLst>
          </a:prstGeom>
          <a:solidFill>
            <a:srgbClr val="F1F1F1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18288" rtlCol="0" anchor="ctr"/>
          <a:lstStyle/>
          <a:p>
            <a:pPr algn="l"/>
            <a:r>
              <a:rPr sz="1050" b="1">
                <a:solidFill>
                  <a:srgbClr val="1F3864"/>
                </a:solidFill>
                <a:latin typeface="Calibri"/>
              </a:rPr>
              <a:t>AI / ML:  </a:t>
            </a:r>
            <a:r>
              <a:rPr sz="950">
                <a:solidFill>
                  <a:srgbClr val="333333"/>
                </a:solidFill>
                <a:latin typeface="Calibri"/>
              </a:rPr>
              <a:t>XGBoost, scikit-learn, SHAP, Grounded LLM interface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57200" y="3374136"/>
            <a:ext cx="3977639" cy="530352"/>
          </a:xfrm>
          <a:prstGeom prst="roundRect">
            <a:avLst>
              <a:gd name="adj" fmla="val 12000"/>
            </a:avLst>
          </a:prstGeom>
          <a:solidFill>
            <a:srgbClr val="F1F1F1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18288" rtlCol="0" anchor="ctr"/>
          <a:lstStyle/>
          <a:p>
            <a:pPr algn="l"/>
            <a:r>
              <a:rPr sz="1050" b="1">
                <a:solidFill>
                  <a:srgbClr val="1F3864"/>
                </a:solidFill>
                <a:latin typeface="Calibri"/>
              </a:rPr>
              <a:t>Risk Analytics:  </a:t>
            </a:r>
            <a:r>
              <a:rPr sz="950">
                <a:solidFill>
                  <a:srgbClr val="333333"/>
                </a:solidFill>
                <a:latin typeface="Calibri"/>
              </a:rPr>
              <a:t>NumPy, SciPy, Monte Carlo Simulation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457200" y="3968496"/>
            <a:ext cx="3977639" cy="530352"/>
          </a:xfrm>
          <a:prstGeom prst="roundRect">
            <a:avLst>
              <a:gd name="adj" fmla="val 12000"/>
            </a:avLst>
          </a:prstGeom>
          <a:solidFill>
            <a:srgbClr val="F1F1F1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18288" rtlCol="0" anchor="ctr"/>
          <a:lstStyle/>
          <a:p>
            <a:pPr algn="l"/>
            <a:r>
              <a:rPr sz="1050" b="1">
                <a:solidFill>
                  <a:srgbClr val="1F3864"/>
                </a:solidFill>
                <a:latin typeface="Calibri"/>
              </a:rPr>
              <a:t>Optimization:  </a:t>
            </a:r>
            <a:r>
              <a:rPr sz="950">
                <a:solidFill>
                  <a:srgbClr val="333333"/>
                </a:solidFill>
                <a:latin typeface="Calibri"/>
              </a:rPr>
              <a:t>Google OR-Tools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457200" y="4562856"/>
            <a:ext cx="3977639" cy="530352"/>
          </a:xfrm>
          <a:prstGeom prst="roundRect">
            <a:avLst>
              <a:gd name="adj" fmla="val 12000"/>
            </a:avLst>
          </a:prstGeom>
          <a:solidFill>
            <a:srgbClr val="F1F1F1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18288" rtlCol="0" anchor="ctr"/>
          <a:lstStyle/>
          <a:p>
            <a:pPr algn="l"/>
            <a:r>
              <a:rPr sz="1050" b="1">
                <a:solidFill>
                  <a:srgbClr val="1F3864"/>
                </a:solidFill>
                <a:latin typeface="Calibri"/>
              </a:rPr>
              <a:t>Deployment:  </a:t>
            </a:r>
            <a:r>
              <a:rPr sz="950">
                <a:solidFill>
                  <a:srgbClr val="333333"/>
                </a:solidFill>
                <a:latin typeface="Calibri"/>
              </a:rPr>
              <a:t>Docker, cloud-ready architecture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457200" y="5157216"/>
            <a:ext cx="3977639" cy="530352"/>
          </a:xfrm>
          <a:prstGeom prst="roundRect">
            <a:avLst>
              <a:gd name="adj" fmla="val 12000"/>
            </a:avLst>
          </a:prstGeom>
          <a:solidFill>
            <a:srgbClr val="F1F1F1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18288" rtlCol="0" anchor="ctr"/>
          <a:lstStyle/>
          <a:p>
            <a:pPr algn="l"/>
            <a:r>
              <a:rPr sz="1050" b="1">
                <a:solidFill>
                  <a:srgbClr val="1F3864"/>
                </a:solidFill>
                <a:latin typeface="Calibri"/>
              </a:rPr>
              <a:t>Data Sources:  </a:t>
            </a:r>
            <a:r>
              <a:rPr sz="950">
                <a:solidFill>
                  <a:srgbClr val="333333"/>
                </a:solidFill>
                <a:latin typeface="Calibri"/>
              </a:rPr>
              <a:t>NVD/CVE, CISA KEV, SIEM, IAM, EDR, CSPM, Asset Inventory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F01ADC5-4F24-5EB4-DB80-271FC87A5F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863" y="1207008"/>
            <a:ext cx="7464623" cy="506475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28DF95F-3983-DFBE-70E1-C8524154F0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4689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sp>
        <p:nvSpPr>
          <p:cNvPr id="17410" name="Rounded Rectangle 17409"/>
          <p:cNvSpPr/>
          <p:nvPr/>
        </p:nvSpPr>
        <p:spPr>
          <a:xfrm>
            <a:off x="971921" y="1539995"/>
            <a:ext cx="4160520" cy="1971881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54864" rtlCol="0" anchor="t"/>
          <a:lstStyle/>
          <a:p>
            <a:pPr algn="l">
              <a:spcAft>
                <a:spcPts val="300"/>
              </a:spcAft>
            </a:pPr>
            <a:r>
              <a:rPr sz="1400" b="1" dirty="0">
                <a:solidFill>
                  <a:srgbClr val="1F3864"/>
                </a:solidFill>
                <a:latin typeface="Calibri"/>
              </a:rPr>
              <a:t>FEASIBILITY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dirty="0">
                <a:solidFill>
                  <a:srgbClr val="333333"/>
                </a:solidFill>
                <a:latin typeface="Calibri"/>
              </a:rPr>
              <a:t>•  Built using proven, ready-to-use tech — AI models, risk math and cloud tools</a:t>
            </a:r>
            <a:r>
              <a:rPr lang="en-IN" sz="1300" dirty="0">
                <a:solidFill>
                  <a:srgbClr val="333333"/>
                </a:solidFill>
                <a:latin typeface="Calibri"/>
              </a:rPr>
              <a:t>.</a:t>
            </a:r>
            <a:endParaRPr sz="1300" dirty="0">
              <a:solidFill>
                <a:srgbClr val="333333"/>
              </a:solidFill>
              <a:latin typeface="Calibri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dirty="0">
                <a:solidFill>
                  <a:srgbClr val="333333"/>
                </a:solidFill>
                <a:latin typeface="Calibri"/>
              </a:rPr>
              <a:t>•  Each part (data links, analytics, dashboards) works on its own, so it's easy to build and upgrade</a:t>
            </a:r>
            <a:r>
              <a:rPr lang="en-IN" sz="1300" dirty="0">
                <a:solidFill>
                  <a:srgbClr val="333333"/>
                </a:solidFill>
                <a:latin typeface="Calibri"/>
              </a:rPr>
              <a:t>.</a:t>
            </a:r>
            <a:endParaRPr sz="1300" dirty="0">
              <a:solidFill>
                <a:srgbClr val="333333"/>
              </a:solidFill>
              <a:latin typeface="Calibri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dirty="0">
                <a:solidFill>
                  <a:srgbClr val="333333"/>
                </a:solidFill>
                <a:latin typeface="Calibri"/>
              </a:rPr>
              <a:t>•  Fits in alongside a company's existing security tools instead of replacing them</a:t>
            </a:r>
            <a:r>
              <a:rPr lang="en-IN" sz="1300" dirty="0">
                <a:solidFill>
                  <a:srgbClr val="333333"/>
                </a:solidFill>
                <a:latin typeface="Calibri"/>
              </a:rPr>
              <a:t>.</a:t>
            </a:r>
            <a:endParaRPr sz="130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17411" name="Rounded Rectangle 17410"/>
          <p:cNvSpPr/>
          <p:nvPr/>
        </p:nvSpPr>
        <p:spPr>
          <a:xfrm>
            <a:off x="6927564" y="1539995"/>
            <a:ext cx="4753160" cy="1971881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54864" rtlCol="0" anchor="t"/>
          <a:lstStyle/>
          <a:p>
            <a:pPr algn="l">
              <a:spcAft>
                <a:spcPts val="300"/>
              </a:spcAft>
            </a:pPr>
            <a:r>
              <a:rPr sz="1400" b="1" dirty="0">
                <a:solidFill>
                  <a:srgbClr val="1F3864"/>
                </a:solidFill>
                <a:latin typeface="Calibri"/>
              </a:rPr>
              <a:t>KEY CHALLENGES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dirty="0">
                <a:solidFill>
                  <a:srgbClr val="333333"/>
                </a:solidFill>
                <a:latin typeface="Calibri"/>
              </a:rPr>
              <a:t>•  Security data from different tools is often messy or incomplete</a:t>
            </a:r>
            <a:r>
              <a:rPr lang="en-IN" sz="1300" dirty="0">
                <a:solidFill>
                  <a:srgbClr val="333333"/>
                </a:solidFill>
                <a:latin typeface="Calibri"/>
              </a:rPr>
              <a:t>.</a:t>
            </a:r>
            <a:endParaRPr sz="1300" dirty="0">
              <a:solidFill>
                <a:srgbClr val="333333"/>
              </a:solidFill>
              <a:latin typeface="Calibri"/>
            </a:endParaRP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dirty="0">
                <a:solidFill>
                  <a:srgbClr val="333333"/>
                </a:solidFill>
                <a:latin typeface="Calibri"/>
              </a:rPr>
              <a:t>•  Most companies don't have much historical data on past incidents and losses</a:t>
            </a:r>
            <a:r>
              <a:rPr lang="en-IN" sz="1300" dirty="0">
                <a:solidFill>
                  <a:srgbClr val="333333"/>
                </a:solidFill>
                <a:latin typeface="Calibri"/>
              </a:rPr>
              <a:t>.</a:t>
            </a:r>
            <a:endParaRPr sz="1300" dirty="0">
              <a:solidFill>
                <a:srgbClr val="333333"/>
              </a:solidFill>
              <a:latin typeface="Calibri"/>
            </a:endParaRP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dirty="0">
                <a:solidFill>
                  <a:srgbClr val="333333"/>
                </a:solidFill>
                <a:latin typeface="Calibri"/>
              </a:rPr>
              <a:t>•  Threats keep changing, so models can go stale if not refreshed regularly</a:t>
            </a:r>
            <a:r>
              <a:rPr lang="en-IN" sz="1300" dirty="0">
                <a:solidFill>
                  <a:srgbClr val="333333"/>
                </a:solidFill>
                <a:latin typeface="Calibri"/>
              </a:rPr>
              <a:t>.</a:t>
            </a:r>
            <a:endParaRPr sz="130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17412" name="Rounded Rectangle 17411"/>
          <p:cNvSpPr/>
          <p:nvPr/>
        </p:nvSpPr>
        <p:spPr>
          <a:xfrm>
            <a:off x="3719420" y="3869694"/>
            <a:ext cx="4753160" cy="2128841"/>
          </a:xfrm>
          <a:prstGeom prst="roundRect">
            <a:avLst>
              <a:gd name="adj" fmla="val 6000"/>
            </a:avLst>
          </a:prstGeom>
          <a:solidFill>
            <a:srgbClr val="E2EFDA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54864" rtlCol="0" anchor="t"/>
          <a:lstStyle/>
          <a:p>
            <a:pPr algn="l">
              <a:spcAft>
                <a:spcPts val="300"/>
              </a:spcAft>
            </a:pPr>
            <a:r>
              <a:rPr sz="1400" b="1" dirty="0">
                <a:solidFill>
                  <a:srgbClr val="1F3864"/>
                </a:solidFill>
                <a:latin typeface="Calibri"/>
              </a:rPr>
              <a:t>MITIGATION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dirty="0">
                <a:solidFill>
                  <a:srgbClr val="333333"/>
                </a:solidFill>
                <a:latin typeface="Calibri"/>
              </a:rPr>
              <a:t>•  We clean and quality-check every piece of data before it's used</a:t>
            </a:r>
            <a:r>
              <a:rPr lang="en-IN" sz="1300" dirty="0">
                <a:solidFill>
                  <a:srgbClr val="333333"/>
                </a:solidFill>
                <a:latin typeface="Calibri"/>
              </a:rPr>
              <a:t>.</a:t>
            </a:r>
            <a:endParaRPr sz="1300" dirty="0">
              <a:solidFill>
                <a:srgbClr val="333333"/>
              </a:solidFill>
              <a:latin typeface="Calibri"/>
            </a:endParaRP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dirty="0">
                <a:solidFill>
                  <a:srgbClr val="333333"/>
                </a:solidFill>
                <a:latin typeface="Calibri"/>
              </a:rPr>
              <a:t>•  Our models give a realistic range, not one exact number — and experts review the results</a:t>
            </a:r>
            <a:r>
              <a:rPr lang="en-IN" sz="1300" dirty="0">
                <a:solidFill>
                  <a:srgbClr val="333333"/>
                </a:solidFill>
                <a:latin typeface="Calibri"/>
              </a:rPr>
              <a:t>.</a:t>
            </a:r>
            <a:endParaRPr sz="1300" dirty="0">
              <a:solidFill>
                <a:srgbClr val="333333"/>
              </a:solidFill>
              <a:latin typeface="Calibri"/>
            </a:endParaRP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dirty="0">
                <a:solidFill>
                  <a:srgbClr val="333333"/>
                </a:solidFill>
                <a:latin typeface="Calibri"/>
              </a:rPr>
              <a:t>•  We protect data with encryption and access control, and keep watching for any drift</a:t>
            </a:r>
            <a:r>
              <a:rPr lang="en-IN" sz="1300" dirty="0">
                <a:solidFill>
                  <a:srgbClr val="333333"/>
                </a:solidFill>
                <a:latin typeface="Calibri"/>
              </a:rPr>
              <a:t>.</a:t>
            </a:r>
            <a:endParaRPr sz="1300" dirty="0">
              <a:solidFill>
                <a:srgbClr val="333333"/>
              </a:solidFill>
              <a:latin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DB69CE-CD97-4CA1-7A6B-17E7D553C1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4834" y="87362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sp>
        <p:nvSpPr>
          <p:cNvPr id="17410" name="TextBox 17409"/>
          <p:cNvSpPr txBox="1"/>
          <p:nvPr/>
        </p:nvSpPr>
        <p:spPr>
          <a:xfrm>
            <a:off x="457200" y="1207008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F3864"/>
                </a:solidFill>
                <a:latin typeface="Calibri"/>
              </a:rPr>
              <a:t>TARGET USERS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57200" y="1517903"/>
            <a:ext cx="2185416" cy="1019605"/>
          </a:xfrm>
          <a:prstGeom prst="roundRect">
            <a:avLst>
              <a:gd name="adj" fmla="val 10000"/>
            </a:avLst>
          </a:prstGeom>
          <a:solidFill>
            <a:srgbClr val="F1F1F1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54864" rtlCol="0" anchor="t"/>
          <a:lstStyle/>
          <a:p>
            <a:pPr algn="l">
              <a:spcAft>
                <a:spcPts val="300"/>
              </a:spcAft>
            </a:pPr>
            <a:r>
              <a:rPr sz="1300" b="1" dirty="0">
                <a:solidFill>
                  <a:srgbClr val="1F3864"/>
                </a:solidFill>
                <a:latin typeface="Calibri"/>
              </a:rPr>
              <a:t>CISOs / Risk Officers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dirty="0">
                <a:solidFill>
                  <a:srgbClr val="333333"/>
                </a:solidFill>
                <a:latin typeface="Calibri"/>
              </a:rPr>
              <a:t>•  Get a clear, money-based view of risk and know exactly what to fix first</a:t>
            </a:r>
            <a:r>
              <a:rPr lang="en-IN" sz="1200" dirty="0">
                <a:solidFill>
                  <a:srgbClr val="333333"/>
                </a:solidFill>
                <a:latin typeface="Calibri"/>
              </a:rPr>
              <a:t>.</a:t>
            </a:r>
            <a:endParaRPr sz="120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17412" name="Rounded Rectangle 17411"/>
          <p:cNvSpPr/>
          <p:nvPr/>
        </p:nvSpPr>
        <p:spPr>
          <a:xfrm>
            <a:off x="2752344" y="1517904"/>
            <a:ext cx="2185416" cy="1019604"/>
          </a:xfrm>
          <a:prstGeom prst="roundRect">
            <a:avLst>
              <a:gd name="adj" fmla="val 10000"/>
            </a:avLst>
          </a:prstGeom>
          <a:solidFill>
            <a:srgbClr val="F1F1F1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54864" rtlCol="0" anchor="t"/>
          <a:lstStyle/>
          <a:p>
            <a:pPr algn="l">
              <a:spcAft>
                <a:spcPts val="300"/>
              </a:spcAft>
            </a:pPr>
            <a:r>
              <a:rPr sz="1300" b="1" dirty="0">
                <a:solidFill>
                  <a:srgbClr val="1F3864"/>
                </a:solidFill>
                <a:latin typeface="Calibri"/>
              </a:rPr>
              <a:t>Executives / Boards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dirty="0">
                <a:solidFill>
                  <a:srgbClr val="333333"/>
                </a:solidFill>
                <a:latin typeface="Calibri"/>
              </a:rPr>
              <a:t>•  See cyber risk in terms of rupees and business impact, not tech jargon</a:t>
            </a:r>
            <a:r>
              <a:rPr lang="en-IN" sz="1200" dirty="0">
                <a:solidFill>
                  <a:srgbClr val="333333"/>
                </a:solidFill>
                <a:latin typeface="Calibri"/>
              </a:rPr>
              <a:t>.</a:t>
            </a:r>
            <a:endParaRPr sz="120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17413" name="Rounded Rectangle 17412"/>
          <p:cNvSpPr/>
          <p:nvPr/>
        </p:nvSpPr>
        <p:spPr>
          <a:xfrm>
            <a:off x="457200" y="2574085"/>
            <a:ext cx="2185416" cy="1019604"/>
          </a:xfrm>
          <a:prstGeom prst="roundRect">
            <a:avLst>
              <a:gd name="adj" fmla="val 10000"/>
            </a:avLst>
          </a:prstGeom>
          <a:solidFill>
            <a:srgbClr val="F1F1F1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54864" rtlCol="0" anchor="t"/>
          <a:lstStyle/>
          <a:p>
            <a:pPr algn="l">
              <a:spcAft>
                <a:spcPts val="300"/>
              </a:spcAft>
            </a:pPr>
            <a:r>
              <a:rPr sz="1300" b="1" dirty="0">
                <a:solidFill>
                  <a:srgbClr val="1F3864"/>
                </a:solidFill>
                <a:latin typeface="Calibri"/>
              </a:rPr>
              <a:t>Security Teams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dirty="0">
                <a:solidFill>
                  <a:srgbClr val="333333"/>
                </a:solidFill>
                <a:latin typeface="Calibri"/>
              </a:rPr>
              <a:t>•  Know which issues to fix first, based on real business impact</a:t>
            </a:r>
            <a:r>
              <a:rPr lang="en-IN" sz="1200" dirty="0">
                <a:solidFill>
                  <a:srgbClr val="333333"/>
                </a:solidFill>
                <a:latin typeface="Calibri"/>
              </a:rPr>
              <a:t>.</a:t>
            </a:r>
            <a:endParaRPr sz="120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17414" name="Rounded Rectangle 17413"/>
          <p:cNvSpPr/>
          <p:nvPr/>
        </p:nvSpPr>
        <p:spPr>
          <a:xfrm>
            <a:off x="2752344" y="2577934"/>
            <a:ext cx="2185416" cy="1015756"/>
          </a:xfrm>
          <a:prstGeom prst="roundRect">
            <a:avLst>
              <a:gd name="adj" fmla="val 10000"/>
            </a:avLst>
          </a:prstGeom>
          <a:solidFill>
            <a:srgbClr val="F1F1F1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54864" rtlCol="0" anchor="t"/>
          <a:lstStyle/>
          <a:p>
            <a:pPr algn="l">
              <a:spcAft>
                <a:spcPts val="300"/>
              </a:spcAft>
            </a:pPr>
            <a:r>
              <a:rPr sz="1300" b="1" dirty="0">
                <a:solidFill>
                  <a:srgbClr val="1F3864"/>
                </a:solidFill>
                <a:latin typeface="Calibri"/>
              </a:rPr>
              <a:t>Auditors / Regulators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dirty="0">
                <a:solidFill>
                  <a:srgbClr val="333333"/>
                </a:solidFill>
                <a:latin typeface="Calibri"/>
              </a:rPr>
              <a:t>•  Get ready-made reports that make audits and compliance easier</a:t>
            </a:r>
            <a:r>
              <a:rPr lang="en-IN" sz="1000" dirty="0">
                <a:solidFill>
                  <a:srgbClr val="333333"/>
                </a:solidFill>
                <a:latin typeface="Calibri"/>
              </a:rPr>
              <a:t>.</a:t>
            </a:r>
            <a:endParaRPr sz="100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17415" name="TextBox 17414"/>
          <p:cNvSpPr txBox="1"/>
          <p:nvPr/>
        </p:nvSpPr>
        <p:spPr>
          <a:xfrm>
            <a:off x="464574" y="3714056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dirty="0">
                <a:solidFill>
                  <a:srgbClr val="1F3864"/>
                </a:solidFill>
                <a:latin typeface="Calibri"/>
              </a:rPr>
              <a:t>BENEFITS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457200" y="4072909"/>
            <a:ext cx="1432560" cy="2283444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54864" rtlCol="0" anchor="t"/>
          <a:lstStyle/>
          <a:p>
            <a:pPr algn="l">
              <a:spcAft>
                <a:spcPts val="300"/>
              </a:spcAft>
            </a:pPr>
            <a:r>
              <a:rPr sz="1300" b="1" dirty="0">
                <a:solidFill>
                  <a:srgbClr val="1F3864"/>
                </a:solidFill>
                <a:latin typeface="Calibri"/>
              </a:rPr>
              <a:t>ECONOMIC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dirty="0">
                <a:solidFill>
                  <a:srgbClr val="333333"/>
                </a:solidFill>
                <a:latin typeface="Calibri"/>
              </a:rPr>
              <a:t>•  Puts the security budget where it actually matters most</a:t>
            </a:r>
            <a:r>
              <a:rPr lang="en-IN" sz="1200" dirty="0">
                <a:solidFill>
                  <a:srgbClr val="333333"/>
                </a:solidFill>
                <a:latin typeface="Calibri"/>
              </a:rPr>
              <a:t>.</a:t>
            </a:r>
            <a:endParaRPr sz="1200" dirty="0">
              <a:solidFill>
                <a:srgbClr val="333333"/>
              </a:solidFill>
              <a:latin typeface="Calibri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dirty="0">
                <a:solidFill>
                  <a:srgbClr val="333333"/>
                </a:solidFill>
                <a:latin typeface="Calibri"/>
              </a:rPr>
              <a:t>•  Stops money being wasted on the wrong fixes</a:t>
            </a:r>
            <a:r>
              <a:rPr lang="en-IN" sz="1200" dirty="0">
                <a:solidFill>
                  <a:srgbClr val="333333"/>
                </a:solidFill>
                <a:latin typeface="Calibri"/>
              </a:rPr>
              <a:t>.</a:t>
            </a:r>
            <a:endParaRPr sz="120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17417" name="Rounded Rectangle 17416"/>
          <p:cNvSpPr/>
          <p:nvPr/>
        </p:nvSpPr>
        <p:spPr>
          <a:xfrm>
            <a:off x="1981200" y="4072909"/>
            <a:ext cx="1432560" cy="2283444"/>
          </a:xfrm>
          <a:prstGeom prst="roundRect">
            <a:avLst>
              <a:gd name="adj" fmla="val 8000"/>
            </a:avLst>
          </a:prstGeom>
          <a:solidFill>
            <a:srgbClr val="E2EFDA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54864" rtlCol="0" anchor="t"/>
          <a:lstStyle/>
          <a:p>
            <a:pPr algn="l">
              <a:spcAft>
                <a:spcPts val="300"/>
              </a:spcAft>
            </a:pPr>
            <a:r>
              <a:rPr sz="1300" b="1" dirty="0">
                <a:solidFill>
                  <a:srgbClr val="1F3864"/>
                </a:solidFill>
                <a:latin typeface="Calibri"/>
              </a:rPr>
              <a:t>OPERATIONAL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dirty="0">
                <a:solidFill>
                  <a:srgbClr val="333333"/>
                </a:solidFill>
                <a:latin typeface="Calibri"/>
              </a:rPr>
              <a:t>•  Shows risk levels updating live, not just once a quarter</a:t>
            </a:r>
            <a:r>
              <a:rPr lang="en-IN" sz="1200" dirty="0">
                <a:solidFill>
                  <a:srgbClr val="333333"/>
                </a:solidFill>
                <a:latin typeface="Calibri"/>
              </a:rPr>
              <a:t>.</a:t>
            </a:r>
            <a:endParaRPr sz="1200" dirty="0">
              <a:solidFill>
                <a:srgbClr val="333333"/>
              </a:solidFill>
              <a:latin typeface="Calibri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dirty="0">
                <a:solidFill>
                  <a:srgbClr val="333333"/>
                </a:solidFill>
                <a:latin typeface="Calibri"/>
              </a:rPr>
              <a:t>•  Lets teams quickly test 'what-if' scenarios during an incident</a:t>
            </a:r>
            <a:r>
              <a:rPr lang="en-IN" sz="1200" dirty="0">
                <a:solidFill>
                  <a:srgbClr val="333333"/>
                </a:solidFill>
                <a:latin typeface="Calibri"/>
              </a:rPr>
              <a:t>.</a:t>
            </a:r>
            <a:endParaRPr sz="120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17418" name="Rounded Rectangle 17417"/>
          <p:cNvSpPr/>
          <p:nvPr/>
        </p:nvSpPr>
        <p:spPr>
          <a:xfrm>
            <a:off x="3512574" y="4072909"/>
            <a:ext cx="1432560" cy="2283444"/>
          </a:xfrm>
          <a:prstGeom prst="roundRect">
            <a:avLst>
              <a:gd name="adj" fmla="val 8000"/>
            </a:avLst>
          </a:prstGeom>
          <a:solidFill>
            <a:srgbClr val="FCE4D6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54864" rtlCol="0" anchor="t"/>
          <a:lstStyle/>
          <a:p>
            <a:pPr algn="l">
              <a:spcAft>
                <a:spcPts val="300"/>
              </a:spcAft>
            </a:pPr>
            <a:r>
              <a:rPr sz="1300" b="1" dirty="0">
                <a:solidFill>
                  <a:srgbClr val="1F3864"/>
                </a:solidFill>
                <a:latin typeface="Calibri"/>
              </a:rPr>
              <a:t>GOVERNANCE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dirty="0">
                <a:solidFill>
                  <a:srgbClr val="333333"/>
                </a:solidFill>
                <a:latin typeface="Calibri"/>
              </a:rPr>
              <a:t>•  Gives risk decisions that are easy to explain to auditors and the board</a:t>
            </a:r>
            <a:r>
              <a:rPr lang="en-IN" sz="1200" dirty="0">
                <a:solidFill>
                  <a:srgbClr val="333333"/>
                </a:solidFill>
                <a:latin typeface="Calibri"/>
              </a:rPr>
              <a:t>.</a:t>
            </a:r>
            <a:endParaRPr sz="1200" dirty="0">
              <a:solidFill>
                <a:srgbClr val="333333"/>
              </a:solidFill>
              <a:latin typeface="Calibri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dirty="0">
                <a:solidFill>
                  <a:srgbClr val="333333"/>
                </a:solidFill>
                <a:latin typeface="Calibri"/>
              </a:rPr>
              <a:t>•  Keeps the company aligned with frameworks like NIST and ISO</a:t>
            </a:r>
            <a:r>
              <a:rPr lang="en-IN" sz="1200" dirty="0">
                <a:solidFill>
                  <a:srgbClr val="333333"/>
                </a:solidFill>
                <a:latin typeface="Calibri"/>
              </a:rPr>
              <a:t>.</a:t>
            </a:r>
            <a:endParaRPr sz="120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17419" name="TextBox 17418"/>
          <p:cNvSpPr txBox="1"/>
          <p:nvPr/>
        </p:nvSpPr>
        <p:spPr>
          <a:xfrm>
            <a:off x="5212080" y="1237896"/>
            <a:ext cx="6522415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IN" sz="1500" b="1" dirty="0">
                <a:solidFill>
                  <a:srgbClr val="1F3864"/>
                </a:solidFill>
                <a:latin typeface="Calibri"/>
              </a:rPr>
              <a:t>USE CASE DIAGRAM</a:t>
            </a:r>
            <a:endParaRPr sz="1500" b="1" i="0" dirty="0">
              <a:solidFill>
                <a:srgbClr val="1F3864"/>
              </a:solidFill>
              <a:latin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11A857-B3E1-FF69-301E-6828F49CA3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1526659"/>
            <a:ext cx="6715247" cy="494613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4DE13E3-FAB8-7DD1-6AD3-44E9EE5710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62003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sp>
        <p:nvSpPr>
          <p:cNvPr id="17410" name="TextBox 17409"/>
          <p:cNvSpPr txBox="1"/>
          <p:nvPr/>
        </p:nvSpPr>
        <p:spPr>
          <a:xfrm>
            <a:off x="457200" y="1207008"/>
            <a:ext cx="5074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OFFICIAL REFERENCES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457200" y="1591056"/>
            <a:ext cx="5074920" cy="330654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 b="1" dirty="0">
                <a:solidFill>
                  <a:srgbClr val="1F3864"/>
                </a:solidFill>
                <a:latin typeface="Calibri"/>
              </a:rPr>
              <a:t>•  NIST Cybersecurity Framework 2.0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969" i="1" dirty="0">
                <a:solidFill>
                  <a:srgbClr val="555555"/>
                </a:solidFill>
                <a:latin typeface="Calibri"/>
              </a:rPr>
              <a:t>    A trusted, step-by-step framework for managing cyber risk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 b="1" dirty="0">
                <a:solidFill>
                  <a:srgbClr val="1F3864"/>
                </a:solidFill>
                <a:latin typeface="Calibri"/>
              </a:rPr>
              <a:t>•  NIST National Vulnerability Database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969" i="1" dirty="0">
                <a:solidFill>
                  <a:srgbClr val="555555"/>
                </a:solidFill>
                <a:latin typeface="Calibri"/>
              </a:rPr>
              <a:t>    The main database we use to track known security vulnerabilities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 b="1" dirty="0">
                <a:solidFill>
                  <a:srgbClr val="1F3864"/>
                </a:solidFill>
                <a:latin typeface="Calibri"/>
              </a:rPr>
              <a:t>•  CISA Known Exploited Vulnerabilities Catalog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969" i="1" dirty="0">
                <a:solidFill>
                  <a:srgbClr val="555555"/>
                </a:solidFill>
                <a:latin typeface="Calibri"/>
              </a:rPr>
              <a:t>    Helps us fix the vulnerabilities hackers are actually using right now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 b="1" dirty="0">
                <a:solidFill>
                  <a:srgbClr val="1F3864"/>
                </a:solidFill>
                <a:latin typeface="Calibri"/>
              </a:rPr>
              <a:t>•  ISO/IEC 27001:2022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969" i="1" dirty="0">
                <a:solidFill>
                  <a:srgbClr val="555555"/>
                </a:solidFill>
                <a:latin typeface="Calibri"/>
              </a:rPr>
              <a:t>    A global standard for managing information security properly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 b="1" dirty="0">
                <a:solidFill>
                  <a:srgbClr val="1F3864"/>
                </a:solidFill>
                <a:latin typeface="Calibri"/>
              </a:rPr>
              <a:t>•  CIS Critical Security Controls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969" i="1" dirty="0">
                <a:solidFill>
                  <a:srgbClr val="555555"/>
                </a:solidFill>
                <a:latin typeface="Calibri"/>
              </a:rPr>
              <a:t>    A checklist of top security practices we measure ourselves against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 b="1" dirty="0">
                <a:solidFill>
                  <a:srgbClr val="1F3864"/>
                </a:solidFill>
                <a:latin typeface="Calibri"/>
              </a:rPr>
              <a:t>•  RBI Cyber Security Framework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969" i="1" dirty="0">
                <a:solidFill>
                  <a:srgbClr val="555555"/>
                </a:solidFill>
                <a:latin typeface="Calibri"/>
              </a:rPr>
              <a:t>    The cybersecurity rules Indian banks are required to follow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 b="1" dirty="0">
                <a:solidFill>
                  <a:srgbClr val="1F3864"/>
                </a:solidFill>
                <a:latin typeface="Calibri"/>
              </a:rPr>
              <a:t>•  SEBI Cybersecurity and Cyber Resilience Framework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969" i="1" dirty="0">
                <a:solidFill>
                  <a:srgbClr val="555555"/>
                </a:solidFill>
                <a:latin typeface="Calibri"/>
              </a:rPr>
              <a:t>    The cybersecurity rules for India's stock market and securities firms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5824728" y="1207008"/>
            <a:ext cx="590976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COMPARISON WITH TRADITIONAL APPROACH</a:t>
            </a:r>
          </a:p>
        </p:txBody>
      </p:sp>
      <p:graphicFrame>
        <p:nvGraphicFramePr>
          <p:cNvPr id="17413" name="Table 17412"/>
          <p:cNvGraphicFramePr>
            <a:graphicFrameLocks noGrp="1"/>
          </p:cNvGraphicFramePr>
          <p:nvPr/>
        </p:nvGraphicFramePr>
        <p:xfrm>
          <a:off x="5824728" y="1591056"/>
          <a:ext cx="5909767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9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56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48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823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Traditional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CyberQuant AI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823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Risk Representation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Low / Medium / High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Monetary Exposure</a:t>
                      </a:r>
                    </a:p>
                  </a:txBody>
                  <a:tcPr marL="73152" marR="73152" marT="27432" marB="27432" anchor="ctr"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823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Assessment</a:t>
                      </a:r>
                    </a:p>
                  </a:txBody>
                  <a:tcPr marL="73152" marR="73152" marT="27432" marB="27432"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Periodic</a:t>
                      </a:r>
                    </a:p>
                  </a:txBody>
                  <a:tcPr marL="73152" marR="73152" marT="27432" marB="27432"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Continuous</a:t>
                      </a:r>
                    </a:p>
                  </a:txBody>
                  <a:tcPr marL="73152" marR="73152" marT="27432" marB="27432" anchor="ctr"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823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Prioritization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Severity-Based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Financial-Impact Based</a:t>
                      </a:r>
                    </a:p>
                  </a:txBody>
                  <a:tcPr marL="73152" marR="73152" marT="27432" marB="27432" anchor="ctr"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823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Investment Planning</a:t>
                      </a:r>
                    </a:p>
                  </a:txBody>
                  <a:tcPr marL="73152" marR="73152" marT="27432" marB="27432"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Manual</a:t>
                      </a:r>
                    </a:p>
                  </a:txBody>
                  <a:tcPr marL="73152" marR="73152" marT="27432" marB="27432"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Budget-Optimized</a:t>
                      </a:r>
                    </a:p>
                  </a:txBody>
                  <a:tcPr marL="73152" marR="73152" marT="27432" marB="27432" anchor="ctr"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823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Scenario Analysis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Limited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What-If Simulation</a:t>
                      </a:r>
                    </a:p>
                  </a:txBody>
                  <a:tcPr marL="73152" marR="73152" marT="27432" marB="27432" anchor="ctr"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8235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Executive Interpretation</a:t>
                      </a:r>
                    </a:p>
                  </a:txBody>
                  <a:tcPr marL="73152" marR="73152" marT="27432" marB="27432"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Technical</a:t>
                      </a:r>
                    </a:p>
                  </a:txBody>
                  <a:tcPr marL="73152" marR="73152" marT="27432" marB="27432"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Business / Financial</a:t>
                      </a:r>
                    </a:p>
                  </a:txBody>
                  <a:tcPr marL="73152" marR="73152" marT="27432" marB="27432" anchor="ctr"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3B25E041-DBBF-7AA8-C269-478A951397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53231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7629</TotalTime>
  <Words>849</Words>
  <Application>Microsoft Office PowerPoint</Application>
  <PresentationFormat>Widescreen</PresentationFormat>
  <Paragraphs>129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 CyberQuant AI</vt:lpstr>
      <vt:lpstr>TECHNICAL APPROACH</vt:lpstr>
      <vt:lpstr>FEASIBILITY AND VIABILITY</vt:lpstr>
      <vt:lpstr>IMPACT AND BENEFITS</vt:lpstr>
      <vt:lpstr>RESEARCH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Rohan Mandal</cp:lastModifiedBy>
  <cp:revision>153</cp:revision>
  <dcterms:created xsi:type="dcterms:W3CDTF">2013-12-12T18:46:50Z</dcterms:created>
  <dcterms:modified xsi:type="dcterms:W3CDTF">2026-09-02T04:36:17Z</dcterms:modified>
  <cp:category/>
</cp:coreProperties>
</file>