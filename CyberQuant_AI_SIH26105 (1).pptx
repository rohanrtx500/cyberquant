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andal" userId="bebad03393a10956" providerId="LiveId" clId="{B4BBEC73-6F90-4773-BBD6-BDAF916354A5}"/>
    <pc:docChg chg="custSel modSld">
      <pc:chgData name="Rohan Mandal" userId="bebad03393a10956" providerId="LiveId" clId="{B4BBEC73-6F90-4773-BBD6-BDAF916354A5}" dt="2026-08-31T08:36:41.804" v="156" actId="255"/>
      <pc:docMkLst>
        <pc:docMk/>
      </pc:docMkLst>
      <pc:sldChg chg="modSp mod">
        <pc:chgData name="Rohan Mandal" userId="bebad03393a10956" providerId="LiveId" clId="{B4BBEC73-6F90-4773-BBD6-BDAF916354A5}" dt="2026-08-31T08:36:41.804" v="156" actId="255"/>
        <pc:sldMkLst>
          <pc:docMk/>
          <pc:sldMk cId="0" sldId="281"/>
        </pc:sldMkLst>
        <pc:spChg chg="mod">
          <ac:chgData name="Rohan Mandal" userId="bebad03393a10956" providerId="LiveId" clId="{B4BBEC73-6F90-4773-BBD6-BDAF916354A5}" dt="2026-08-31T08:36:41.804" v="156" actId="255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 mod">
        <pc:chgData name="Rohan Mandal" userId="bebad03393a10956" providerId="LiveId" clId="{B4BBEC73-6F90-4773-BBD6-BDAF916354A5}" dt="2026-08-31T08:27:01.002" v="45" actId="14100"/>
        <pc:sldMkLst>
          <pc:docMk/>
          <pc:sldMk cId="0" sldId="290"/>
        </pc:sldMkLst>
        <pc:spChg chg="del mod">
          <ac:chgData name="Rohan Mandal" userId="bebad03393a10956" providerId="LiveId" clId="{B4BBEC73-6F90-4773-BBD6-BDAF916354A5}" dt="2026-08-31T08:26:39.349" v="41" actId="478"/>
          <ac:spMkLst>
            <pc:docMk/>
            <pc:sldMk cId="0" sldId="290"/>
            <ac:spMk id="17418" creationId="{00000000-0000-0000-0000-000000000000}"/>
          </ac:spMkLst>
        </pc:spChg>
        <pc:spChg chg="del mod">
          <ac:chgData name="Rohan Mandal" userId="bebad03393a10956" providerId="LiveId" clId="{B4BBEC73-6F90-4773-BBD6-BDAF916354A5}" dt="2026-08-31T08:18:02.115" v="19" actId="478"/>
          <ac:spMkLst>
            <pc:docMk/>
            <pc:sldMk cId="0" sldId="290"/>
            <ac:spMk id="17419" creationId="{00000000-0000-0000-0000-000000000000}"/>
          </ac:spMkLst>
        </pc:spChg>
        <pc:picChg chg="add del mod">
          <ac:chgData name="Rohan Mandal" userId="bebad03393a10956" providerId="LiveId" clId="{B4BBEC73-6F90-4773-BBD6-BDAF916354A5}" dt="2026-08-31T08:19:02.499" v="22" actId="478"/>
          <ac:picMkLst>
            <pc:docMk/>
            <pc:sldMk cId="0" sldId="290"/>
            <ac:picMk id="3" creationId="{D0A18EDD-BBE2-1E86-8654-CC6C72064640}"/>
          </ac:picMkLst>
        </pc:picChg>
        <pc:picChg chg="add del mod">
          <ac:chgData name="Rohan Mandal" userId="bebad03393a10956" providerId="LiveId" clId="{B4BBEC73-6F90-4773-BBD6-BDAF916354A5}" dt="2026-08-31T08:19:21.898" v="24" actId="478"/>
          <ac:picMkLst>
            <pc:docMk/>
            <pc:sldMk cId="0" sldId="290"/>
            <ac:picMk id="5" creationId="{E184D97F-4BA1-B4A0-120E-082685EB3B00}"/>
          </ac:picMkLst>
        </pc:picChg>
        <pc:picChg chg="add del mod">
          <ac:chgData name="Rohan Mandal" userId="bebad03393a10956" providerId="LiveId" clId="{B4BBEC73-6F90-4773-BBD6-BDAF916354A5}" dt="2026-08-31T08:26:05.115" v="35" actId="478"/>
          <ac:picMkLst>
            <pc:docMk/>
            <pc:sldMk cId="0" sldId="290"/>
            <ac:picMk id="10" creationId="{CC1E1B55-8A8B-7807-1FDE-D84EC22E633E}"/>
          </ac:picMkLst>
        </pc:picChg>
        <pc:picChg chg="add mod">
          <ac:chgData name="Rohan Mandal" userId="bebad03393a10956" providerId="LiveId" clId="{B4BBEC73-6F90-4773-BBD6-BDAF916354A5}" dt="2026-08-31T08:27:01.002" v="45" actId="14100"/>
          <ac:picMkLst>
            <pc:docMk/>
            <pc:sldMk cId="0" sldId="290"/>
            <ac:picMk id="13" creationId="{CF01ADC5-4F24-5EB4-DB80-271FC87A5FD7}"/>
          </ac:picMkLst>
        </pc:picChg>
      </pc:sldChg>
      <pc:sldChg chg="addSp delSp modSp mod">
        <pc:chgData name="Rohan Mandal" userId="bebad03393a10956" providerId="LiveId" clId="{B4BBEC73-6F90-4773-BBD6-BDAF916354A5}" dt="2026-08-31T08:22:59.493" v="30" actId="14100"/>
        <pc:sldMkLst>
          <pc:docMk/>
          <pc:sldMk cId="3753387913" sldId="293"/>
        </pc:sldMkLst>
        <pc:spChg chg="mod">
          <ac:chgData name="Rohan Mandal" userId="bebad03393a10956" providerId="LiveId" clId="{B4BBEC73-6F90-4773-BBD6-BDAF916354A5}" dt="2026-08-31T08:12:26.423" v="6" actId="1076"/>
          <ac:spMkLst>
            <pc:docMk/>
            <pc:sldMk cId="3753387913" sldId="293"/>
            <ac:spMk id="17413" creationId="{00000000-0000-0000-0000-000000000000}"/>
          </ac:spMkLst>
        </pc:spChg>
        <pc:spChg chg="del">
          <ac:chgData name="Rohan Mandal" userId="bebad03393a10956" providerId="LiveId" clId="{B4BBEC73-6F90-4773-BBD6-BDAF916354A5}" dt="2026-08-31T08:12:58.724" v="13" actId="478"/>
          <ac:spMkLst>
            <pc:docMk/>
            <pc:sldMk cId="3753387913" sldId="293"/>
            <ac:spMk id="17414" creationId="{00000000-0000-0000-0000-000000000000}"/>
          </ac:spMkLst>
        </pc:spChg>
        <pc:picChg chg="add mod">
          <ac:chgData name="Rohan Mandal" userId="bebad03393a10956" providerId="LiveId" clId="{B4BBEC73-6F90-4773-BBD6-BDAF916354A5}" dt="2026-08-31T08:22:59.493" v="30" actId="14100"/>
          <ac:picMkLst>
            <pc:docMk/>
            <pc:sldMk cId="3753387913" sldId="293"/>
            <ac:picMk id="3" creationId="{2413C340-29F1-FC98-D1F1-1D74C75BBEB4}"/>
          </ac:picMkLst>
        </pc:picChg>
      </pc:sldChg>
      <pc:sldChg chg="addSp delSp modSp mod">
        <pc:chgData name="Rohan Mandal" userId="bebad03393a10956" providerId="LiveId" clId="{B4BBEC73-6F90-4773-BBD6-BDAF916354A5}" dt="2026-08-31T08:36:26.474" v="155" actId="1076"/>
        <pc:sldMkLst>
          <pc:docMk/>
          <pc:sldMk cId="2997144140" sldId="294"/>
        </pc:sldMkLst>
        <pc:spChg chg="mod">
          <ac:chgData name="Rohan Mandal" userId="bebad03393a10956" providerId="LiveId" clId="{B4BBEC73-6F90-4773-BBD6-BDAF916354A5}" dt="2026-08-31T08:34:44.247" v="137" actId="14100"/>
          <ac:spMkLst>
            <pc:docMk/>
            <pc:sldMk cId="2997144140" sldId="294"/>
            <ac:spMk id="17411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00.638" v="139" actId="255"/>
          <ac:spMkLst>
            <pc:docMk/>
            <pc:sldMk cId="2997144140" sldId="294"/>
            <ac:spMk id="17412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28.483" v="143" actId="14100"/>
          <ac:spMkLst>
            <pc:docMk/>
            <pc:sldMk cId="2997144140" sldId="294"/>
            <ac:spMk id="17413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33.818" v="145" actId="14100"/>
          <ac:spMkLst>
            <pc:docMk/>
            <pc:sldMk cId="2997144140" sldId="294"/>
            <ac:spMk id="17414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5:59.587" v="151" actId="1076"/>
          <ac:spMkLst>
            <pc:docMk/>
            <pc:sldMk cId="2997144140" sldId="294"/>
            <ac:spMk id="17415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6:05.204" v="152" actId="255"/>
          <ac:spMkLst>
            <pc:docMk/>
            <pc:sldMk cId="2997144140" sldId="294"/>
            <ac:spMk id="17416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6:09.805" v="153" actId="255"/>
          <ac:spMkLst>
            <pc:docMk/>
            <pc:sldMk cId="2997144140" sldId="294"/>
            <ac:spMk id="17417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6:14.560" v="154" actId="255"/>
          <ac:spMkLst>
            <pc:docMk/>
            <pc:sldMk cId="2997144140" sldId="294"/>
            <ac:spMk id="17418" creationId="{00000000-0000-0000-0000-000000000000}"/>
          </ac:spMkLst>
        </pc:spChg>
        <pc:spChg chg="mod">
          <ac:chgData name="Rohan Mandal" userId="bebad03393a10956" providerId="LiveId" clId="{B4BBEC73-6F90-4773-BBD6-BDAF916354A5}" dt="2026-08-31T08:32:22.791" v="108" actId="255"/>
          <ac:spMkLst>
            <pc:docMk/>
            <pc:sldMk cId="2997144140" sldId="294"/>
            <ac:spMk id="17419" creationId="{00000000-0000-0000-0000-000000000000}"/>
          </ac:spMkLst>
        </pc:spChg>
        <pc:spChg chg="del mod">
          <ac:chgData name="Rohan Mandal" userId="bebad03393a10956" providerId="LiveId" clId="{B4BBEC73-6F90-4773-BBD6-BDAF916354A5}" dt="2026-08-31T08:22:28.870" v="25" actId="478"/>
          <ac:spMkLst>
            <pc:docMk/>
            <pc:sldMk cId="2997144140" sldId="294"/>
            <ac:spMk id="17420" creationId="{00000000-0000-0000-0000-000000000000}"/>
          </ac:spMkLst>
        </pc:spChg>
        <pc:spChg chg="del mod">
          <ac:chgData name="Rohan Mandal" userId="bebad03393a10956" providerId="LiveId" clId="{B4BBEC73-6F90-4773-BBD6-BDAF916354A5}" dt="2026-08-31T08:31:32.068" v="56" actId="478"/>
          <ac:spMkLst>
            <pc:docMk/>
            <pc:sldMk cId="2997144140" sldId="294"/>
            <ac:spMk id="17421" creationId="{00000000-0000-0000-0000-000000000000}"/>
          </ac:spMkLst>
        </pc:spChg>
        <pc:picChg chg="add mod">
          <ac:chgData name="Rohan Mandal" userId="bebad03393a10956" providerId="LiveId" clId="{B4BBEC73-6F90-4773-BBD6-BDAF916354A5}" dt="2026-08-31T08:36:26.474" v="155" actId="1076"/>
          <ac:picMkLst>
            <pc:docMk/>
            <pc:sldMk cId="2997144140" sldId="294"/>
            <ac:picMk id="3" creationId="{5711A857-B3E1-FF69-301E-6828F49CA3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3080"/>
            <a:ext cx="5924550" cy="470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500" b="0">
                <a:latin typeface="Arial"/>
              </a:rPr>
              <a:t>  SIH26105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500" b="0">
                <a:latin typeface="Arial"/>
              </a:rPr>
              <a:t>  AI-Powered Continuous Cyber Risk Quantification and Investment Optimization Platform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500" b="0">
                <a:latin typeface="Arial"/>
              </a:rPr>
              <a:t>  Blockchain &amp; Cybersecurity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sz="1500" b="0">
                <a:latin typeface="Arial"/>
              </a:rPr>
              <a:t>  Software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500" b="0">
                <a:latin typeface="Arial"/>
              </a:rPr>
              <a:t>  [YOUR TEAM ID]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500" b="0">
                <a:latin typeface="Arial"/>
              </a:rPr>
              <a:t>  [YOUR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CyberQuant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882" y="3714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TextBox 15361"/>
          <p:cNvSpPr txBox="1"/>
          <p:nvPr/>
        </p:nvSpPr>
        <p:spPr>
          <a:xfrm>
            <a:off x="457200" y="1170432"/>
            <a:ext cx="1127729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1F3864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536829"/>
            <a:ext cx="5486400" cy="1947672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CONTINUOUS RISK INTELLIGENCE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Continuously ingests and normalizes data from vulnerability scanners, SIEM, IAM, EDR and CSPM tools, threat-intelligence feeds and enterprise asset inventories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Correlates technical telemetry with business asset criticality to build a single, always-current view of enterprise cyber exposure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Automatically refreshes as new vulnerabilities, threats or business changes emerge, replacing stale, manually compiled risk registers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364" name="Rounded Rectangle 15363"/>
          <p:cNvSpPr/>
          <p:nvPr/>
        </p:nvSpPr>
        <p:spPr>
          <a:xfrm>
            <a:off x="6248095" y="1609982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FINANCIAL RISK QUANTIFICATION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Translates technical findings such as vulnerabilities, misconfigurations and control gaps into monetary metrics business leaders can act on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Computes Expected Annual Loss (EAL) and Value at Risk (</a:t>
            </a:r>
            <a:r>
              <a:rPr sz="1300" dirty="0" err="1">
                <a:solidFill>
                  <a:srgbClr val="333333"/>
                </a:solidFill>
                <a:latin typeface="Calibri"/>
              </a:rPr>
              <a:t>VaR</a:t>
            </a:r>
            <a:r>
              <a:rPr sz="1300" dirty="0">
                <a:solidFill>
                  <a:srgbClr val="333333"/>
                </a:solidFill>
                <a:latin typeface="Calibri"/>
              </a:rPr>
              <a:t>) at the organization, business-unit and individual-asset level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Models probable loss ranges by combining incident likelihood with downtime, breach, regulatory and reputational cost estimates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365" name="Rounded Rectangle 15364"/>
          <p:cNvSpPr/>
          <p:nvPr/>
        </p:nvSpPr>
        <p:spPr>
          <a:xfrm>
            <a:off x="457200" y="3690242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AI DECISION SUPPORT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Uses predictive analytics to pinpoint the vulnerabilities, threats and control weaknesses driving the largest share of financial risk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Recommends prioritized, quantified mitigation actions such as patch deployment, access-control tightening, segmentation and monitoring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Offers a natural-language query interface so non-technical stakeholders can ask 'What is our highest financial cyber risk today?'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366" name="Rounded Rectangle 15365"/>
          <p:cNvSpPr/>
          <p:nvPr/>
        </p:nvSpPr>
        <p:spPr>
          <a:xfrm>
            <a:off x="6248095" y="369469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1F3864"/>
                </a:solidFill>
                <a:latin typeface="Calibri"/>
              </a:rPr>
              <a:t>BUDGET OPTIMIZATION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Runs optimization models that select the combination of controls and remediations delivering maximum risk reduction under a fixed budget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Computes ROSI (Return on Security Investment) and cost-benefit metrics to support board-level approval of security spend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•  Visualizes Investment-vs-Risk-Reduction curves to reveal diminishing returns and highlight the optimal spend zone</a:t>
            </a:r>
            <a:r>
              <a:rPr lang="en-IN" sz="1300" dirty="0">
                <a:solidFill>
                  <a:srgbClr val="333333"/>
                </a:solidFill>
                <a:latin typeface="Calibri"/>
              </a:rPr>
              <a:t>.</a:t>
            </a:r>
            <a:endParaRPr sz="13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5826003"/>
            <a:ext cx="11277295" cy="502920"/>
          </a:xfrm>
          <a:prstGeom prst="roundRect">
            <a:avLst>
              <a:gd name="adj" fmla="val 30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>TECHNICAL RISK  →  FINANCIAL EXPOSURE  →  OPTIMIZED SECURITY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457200" y="1207008"/>
            <a:ext cx="3977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3864"/>
                </a:solidFill>
                <a:latin typeface="Calibri"/>
              </a:rPr>
              <a:t>TECHNOLOGY STACK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9105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Frontend:  </a:t>
            </a:r>
            <a:r>
              <a:rPr sz="950">
                <a:solidFill>
                  <a:srgbClr val="333333"/>
                </a:solidFill>
                <a:latin typeface="Calibri"/>
              </a:rPr>
              <a:t>Next.js / React, TypeScript, Tailwind CSS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218541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Backend:  </a:t>
            </a:r>
            <a:r>
              <a:rPr sz="950">
                <a:solidFill>
                  <a:srgbClr val="333333"/>
                </a:solidFill>
                <a:latin typeface="Calibri"/>
              </a:rPr>
              <a:t>Python, FastAPI, PostgreSQL, Redis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77977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AI / ML:  </a:t>
            </a:r>
            <a:r>
              <a:rPr sz="950">
                <a:solidFill>
                  <a:srgbClr val="333333"/>
                </a:solidFill>
                <a:latin typeface="Calibri"/>
              </a:rPr>
              <a:t>XGBoost, scikit-learn, SHAP, Grounded LLM interface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337413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Risk Analytics:  </a:t>
            </a:r>
            <a:r>
              <a:rPr sz="950">
                <a:solidFill>
                  <a:srgbClr val="333333"/>
                </a:solidFill>
                <a:latin typeface="Calibri"/>
              </a:rPr>
              <a:t>NumPy, SciPy, Monte Carlo Simulation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396849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Optimization:  </a:t>
            </a:r>
            <a:r>
              <a:rPr sz="950">
                <a:solidFill>
                  <a:srgbClr val="333333"/>
                </a:solidFill>
                <a:latin typeface="Calibri"/>
              </a:rPr>
              <a:t>Google OR-Tools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456285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Deployment:  </a:t>
            </a:r>
            <a:r>
              <a:rPr sz="950">
                <a:solidFill>
                  <a:srgbClr val="333333"/>
                </a:solidFill>
                <a:latin typeface="Calibri"/>
              </a:rPr>
              <a:t>Docker, cloud-ready architecture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5157216"/>
            <a:ext cx="3977639" cy="53035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18288" rtlCol="0" anchor="ctr"/>
          <a:lstStyle/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Data Sources:  </a:t>
            </a:r>
            <a:r>
              <a:rPr sz="950">
                <a:solidFill>
                  <a:srgbClr val="333333"/>
                </a:solidFill>
                <a:latin typeface="Calibri"/>
              </a:rPr>
              <a:t>NVD/CVE, CISA KEV, SIEM, IAM, EDR, CSPM, Asset Inventory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01ADC5-4F24-5EB4-DB80-271FC87A5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863" y="1207008"/>
            <a:ext cx="7464623" cy="5064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457200" y="1207007"/>
            <a:ext cx="4160520" cy="1870489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1F3864"/>
                </a:solidFill>
                <a:latin typeface="Calibri"/>
              </a:rPr>
              <a:t>FEASIBILITY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Technical feasibility is high: the platform is built on mature, production-ready ML, probabilistic risk modelling, optimization solvers and cloud-native APIs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Modular architecture lets connectors, the analytics engine, optimization module and dashboards be built, scaled and upgraded independently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Designed for easy adoption: it complements and integrates with existing enterprise security tools rather than replacing them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3189127"/>
            <a:ext cx="4160520" cy="1648343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1F3864"/>
                </a:solidFill>
                <a:latin typeface="Calibri"/>
              </a:rPr>
              <a:t>KEY CHALLENGES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Telemetry from SIEM, EDR, IAM and CSPM tools is often incomplete, inconsistent or noisy, complicating reliable correlation and scoring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Sparse historical incident and loss data constrains the statistical confidence of financial-impact estimates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Sensitive enterprise data plus fast-evolving threats and controls create ongoing risk of model drift over time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4931926"/>
            <a:ext cx="4160520" cy="1572768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1F3864"/>
                </a:solidFill>
                <a:latin typeface="Calibri"/>
              </a:rPr>
              <a:t>MITIGATION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Rigorous data normalization and automated quality scoring are applied to every telemetry source before it feeds the risk engine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Calibrated statistical/ML models output confidence ranges rather than false-precision point estimates, validated by human experts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Calibri"/>
              </a:rPr>
              <a:t>•  Strict RBAC and encryption protect sensitive data, with continuous monitoring to detect and correct model drift as threats evolve</a:t>
            </a:r>
            <a:r>
              <a:rPr lang="en-IN" sz="1100" dirty="0">
                <a:solidFill>
                  <a:srgbClr val="333333"/>
                </a:solidFill>
                <a:latin typeface="Calibri"/>
              </a:rPr>
              <a:t>.</a:t>
            </a:r>
            <a:endParaRPr sz="11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4979154" y="1160740"/>
            <a:ext cx="682416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HYBRID DATA ARCHITECTURE — ON-CHAIN ↔ OFF-CHAIN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3C340-29F1-FC98-D1F1-1D74C75BB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268" y="1518713"/>
            <a:ext cx="7109261" cy="487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457200" y="12070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TARGET USERS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17903"/>
            <a:ext cx="2185416" cy="1019605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CISOs / Risk Officers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Gain continuous, monetary visibility into enterprise cyber risk and a prioritized, quantified list of mitigation actions to act on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2752344" y="1517904"/>
            <a:ext cx="2185416" cy="101960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Executives / Boards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Understand cybersecurity posture and investment decisions expressed in financial and business terms rather than technical jargon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574085"/>
            <a:ext cx="2185416" cy="1019604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Security Teams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Prioritize remediation work based on business impact, exploitability and current control effectiveness, not just severity scores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2752344" y="2577934"/>
            <a:ext cx="2185416" cy="1015756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Auditors / Regulators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Access evidence-based, framework-mapped compliance and governance reporting suitable for audits and regulatory filings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5" name="TextBox 17414"/>
          <p:cNvSpPr txBox="1"/>
          <p:nvPr/>
        </p:nvSpPr>
        <p:spPr>
          <a:xfrm>
            <a:off x="464574" y="371405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64"/>
                </a:solidFill>
                <a:latin typeface="Calibri"/>
              </a:rPr>
              <a:t>BENEFITS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4072909"/>
            <a:ext cx="1432560" cy="228344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ECONOMIC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Improves security-budget allocation by directing spend to the highest financial-risk-reduction opportunities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Cuts under- and over-spending by replacing guesswork with quantified, evidence-based investment planning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7" name="Rounded Rectangle 17416"/>
          <p:cNvSpPr/>
          <p:nvPr/>
        </p:nvSpPr>
        <p:spPr>
          <a:xfrm>
            <a:off x="1981200" y="4072909"/>
            <a:ext cx="1432560" cy="2283444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OPERATIONAL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Delivers near-real-time visibility into enterprise cyber exposure instead of stale, periodic assessments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Speeds up remediation prioritization and supports rapid what-if decision-making during incidents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8" name="Rounded Rectangle 17417"/>
          <p:cNvSpPr/>
          <p:nvPr/>
        </p:nvSpPr>
        <p:spPr>
          <a:xfrm>
            <a:off x="3512574" y="4072909"/>
            <a:ext cx="1432560" cy="2283444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spcAft>
                <a:spcPts val="300"/>
              </a:spcAft>
            </a:pPr>
            <a:r>
              <a:rPr sz="1100" b="1" dirty="0">
                <a:solidFill>
                  <a:srgbClr val="1F3864"/>
                </a:solidFill>
                <a:latin typeface="Calibri"/>
              </a:rPr>
              <a:t>GOVERNANCE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Produces explainable, defensible risk decisions that hold up to audit and board scrutiny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dirty="0">
                <a:solidFill>
                  <a:srgbClr val="333333"/>
                </a:solidFill>
                <a:latin typeface="Calibri"/>
              </a:rPr>
              <a:t>•  Strengthens executive communication and regulatory readiness across frameworks like NIST and ISO</a:t>
            </a:r>
            <a:r>
              <a:rPr lang="en-IN" sz="1000" dirty="0">
                <a:solidFill>
                  <a:srgbClr val="333333"/>
                </a:solidFill>
                <a:latin typeface="Calibri"/>
              </a:rPr>
              <a:t>.</a:t>
            </a:r>
            <a:endParaRPr sz="10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419" name="TextBox 17418"/>
          <p:cNvSpPr txBox="1"/>
          <p:nvPr/>
        </p:nvSpPr>
        <p:spPr>
          <a:xfrm>
            <a:off x="5212080" y="1237896"/>
            <a:ext cx="652241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1F3864"/>
                </a:solidFill>
                <a:latin typeface="Calibri"/>
              </a:rPr>
              <a:t>USE CASE DIAGRAM</a:t>
            </a:r>
            <a:endParaRPr sz="1500" b="1" i="0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1A857-B3E1-FF69-301E-6828F49C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526659"/>
            <a:ext cx="6715247" cy="494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457200" y="1207008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OFFICIAL 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591056"/>
            <a:ext cx="5074920" cy="33065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NIST Cybersecurity Framework 2.0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Provides the govern-identify-protect-detect-respond-recover structure used for framework mapping</a:t>
            </a:r>
            <a:r>
              <a:rPr lang="en-IN" sz="969" i="1" dirty="0">
                <a:solidFill>
                  <a:srgbClr val="555555"/>
                </a:solidFill>
                <a:latin typeface="Calibri"/>
              </a:rPr>
              <a:t>.</a:t>
            </a:r>
            <a:endParaRPr sz="969" i="1" dirty="0">
              <a:solidFill>
                <a:srgbClr val="555555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NIST National Vulnerability Database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Authoritative CVE source feeding the platform's vulnerability and risk-scoring engine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CISA Known Exploited Vulnerabilities Catalog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Prioritizes remediation of vulnerabilities with confirmed real-world exploitation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ISO/IEC 27001:2022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International standard for information security management referenced in compliance reporting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CIS Critical Security Controls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Prioritized safeguards used to benchmark control effectiveness and coverage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RBI Cyber Security Framework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Regulatory baseline for financial-sector cyber risk governance in India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 dirty="0">
                <a:solidFill>
                  <a:srgbClr val="1F3864"/>
                </a:solidFill>
                <a:latin typeface="Calibri"/>
              </a:rPr>
              <a:t>•  SEBI Cybersecurity and Cyber Resilience Framework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69" i="1" dirty="0">
                <a:solidFill>
                  <a:srgbClr val="555555"/>
                </a:solidFill>
                <a:latin typeface="Calibri"/>
              </a:rPr>
              <a:t>    Securities-market regulatory framework supporting audit-ready governance reporting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824728" y="1207008"/>
            <a:ext cx="59097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COMPARISON WITH TRADITIONAL APPROACH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5824728" y="1591056"/>
          <a:ext cx="5909767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Traditional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CyberQuant AI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Risk Representation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Low / Medium / 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Monetary Exposure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Periodic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Prioritization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Severity-Based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Financial-Impact Based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Investment Planning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Budget-Optimized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Scenario 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What-If Simulation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Executive Interpretation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 marL="73152" marR="73152" marT="27432" marB="27432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Business / Financial</a:t>
                      </a:r>
                    </a:p>
                  </a:txBody>
                  <a:tcPr marL="73152" marR="73152" marT="27432" marB="27432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7609</TotalTime>
  <Words>989</Words>
  <Application>Microsoft Office PowerPoint</Application>
  <PresentationFormat>Widescreen</PresentationFormat>
  <Paragraphs>131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CyberQuant AI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Rohan Mandal</cp:lastModifiedBy>
  <cp:revision>150</cp:revision>
  <dcterms:created xsi:type="dcterms:W3CDTF">2013-12-12T18:46:50Z</dcterms:created>
  <dcterms:modified xsi:type="dcterms:W3CDTF">2026-08-31T12:24:50Z</dcterms:modified>
  <cp:category/>
</cp:coreProperties>
</file>